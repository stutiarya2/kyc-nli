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6233D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16233D"/>
                </a:solidFill>
                <a:latin typeface="Calibri"/>
              </a:rPr>
              <a:t>Macro-F1 vs OCR noise level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Rule engine</c:v>
                </c:pt>
              </c:strCache>
            </c:strRef>
          </c:tx>
          <c:spPr>
            <a:solidFill>
              <a:srgbClr val="16233D"/>
            </a:solidFill>
            <a:ln w="38100" cap="flat">
              <a:solidFill>
                <a:srgbClr val="16233D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6233D"/>
              </a:solidFill>
              <a:ln w="9525" cap="flat">
                <a:solidFill>
                  <a:srgbClr val="1623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light</c:v>
                  </c:pt>
                  <c:pt idx="2">
                    <c:v>moderate</c:v>
                  </c:pt>
                  <c:pt idx="3">
                    <c:v>heavy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0.98</c:v>
                </c:pt>
                <c:pt idx="1">
                  <c:v>0.903</c:v>
                </c:pt>
                <c:pt idx="2">
                  <c:v>0.831</c:v>
                </c:pt>
                <c:pt idx="3">
                  <c:v>0.649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Exact match (incumbent)</c:v>
                </c:pt>
              </c:strCache>
            </c:strRef>
          </c:tx>
          <c:spPr>
            <a:solidFill>
              <a:srgbClr val="B23A48"/>
            </a:solidFill>
            <a:ln w="38100" cap="flat">
              <a:solidFill>
                <a:srgbClr val="B23A48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6B728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B23A48"/>
              </a:solidFill>
              <a:ln w="9525" cap="flat">
                <a:solidFill>
                  <a:srgbClr val="B23A48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clean</c:v>
                  </c:pt>
                  <c:pt idx="1">
                    <c:v>light</c:v>
                  </c:pt>
                  <c:pt idx="2">
                    <c:v>moderate</c:v>
                  </c:pt>
                  <c:pt idx="3">
                    <c:v>heavy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0.371</c:v>
                </c:pt>
                <c:pt idx="1">
                  <c:v>0.359</c:v>
                </c:pt>
                <c:pt idx="2">
                  <c:v>0.353</c:v>
                </c:pt>
                <c:pt idx="3">
                  <c:v>0.285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6B728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6B7280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Mid-review. Headline: a working system, a real empirical result with confidence intervals, and a reframed central claim.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pivot as progress, not retreat. We tested our own idea and found where it holds.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'something that works' slide. Everything listed runs on a laptop CPU in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Tamil is the strongest case: the script genuinely underdetermines the romanisation.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reviewer question 'is Neutral just an abstention threshold?'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methodological maturity: we tried to kill our own idea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number. 0.980 clean. That kills the original framing and points at the real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pivot slide. Two contributions from Review 1 are retired; the surviving claim is sharper and testable.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Catching four of your own citation errors before a reviewer does is a credibility gain, not a loss. Say so plainly.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Naming your own single point of failure before a reviewer does is the strongest position available.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demo. Offer to run it live — kyc-nli compare takes about ten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8288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KYC-NLI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7432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Document-Level Natural Language Inference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dirty="0">
                <a:solidFill>
                  <a:srgbClr val="F4EF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Identity Verification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822960" y="3977640"/>
            <a:ext cx="1005840" cy="32004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4251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Mid-Review  ·  Stuti Arya  ·  September 2026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Indian scripts  ·  Working system  ·  First empirical results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829800" y="1965960"/>
            <a:ext cx="416966" cy="416966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829800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10351008" y="1965960"/>
            <a:ext cx="416966" cy="416966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351008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10872216" y="1965960"/>
            <a:ext cx="416966" cy="416966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872216" y="1965960"/>
            <a:ext cx="416966" cy="4169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25603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Entailment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Contradiction</a:t>
            </a:r>
            <a:endParaRPr lang="en-US" sz="1000" dirty="0"/>
          </a:p>
          <a:p>
            <a:pPr algn="ctr"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changed since Review 1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1 delivered a proposal. This review delivers a running system and a result that changes what we claim.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2880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— Review 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126480" y="182880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— Mid-Review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304288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30428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 and objectives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126480" y="230428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Formal task schema, in code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77977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12-paper literature review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126480" y="2779776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re-verified against source; 4 corrected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3255264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255264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6 contributions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126480" y="3255264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tested against a strong baseline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7307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methodology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3730752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protocol, frozen and documented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206240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4206240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data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126480" y="4206240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7,000-instance benchmark, 5 scripts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4681728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code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4681728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system, 40 passing tests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48640" y="5157216"/>
            <a:ext cx="11064240" cy="47548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5157216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results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5157216"/>
            <a:ext cx="53949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noise levels × 2 baselines × 5 languages, with CIs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built and running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7,000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labelled instances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5 scripts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passing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lint clean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417320"/>
            <a:ext cx="260604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63640" y="158191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225856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languages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distinct scripts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915400" y="1417320"/>
            <a:ext cx="2697480" cy="1371600"/>
          </a:xfrm>
          <a:prstGeom prst="roundRect">
            <a:avLst>
              <a:gd name="adj" fmla="val 5333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052560" y="1581912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258568"/>
            <a:ext cx="2423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identity records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used, by construction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76072" y="3118104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30632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schema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566160" y="30632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Premise = multi-zone field observations. Hypothesis = one claim. Label = E / C / 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76072" y="3630168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575304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Transliteration engines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566160" y="3575304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Devanagari, Tamil, Bengali, Perso-Arabic. Each returns a variant SET, not one string.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76072" y="4142232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68680" y="4087368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OCR noise model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3566160" y="408736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Script-aware corruption: matra loss, dot loss, homoglyphs. Four graded levels, not yet calibrated.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76072" y="4654296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8680" y="4599432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generator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5994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Minimal-pair contrast groups. Reproducible from a config plus a seed.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76072" y="5166360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68680" y="5111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baseline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566160" y="511149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tables, MRZ check digits, cross-field temporal rules, tuned fuzzy match.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76072" y="5678424"/>
            <a:ext cx="146304" cy="146304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562356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harness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3566160" y="5623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Macro-F1 with bootstrap CIs, paired significance testing, per-language, per-phenomenon.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yet implemented: the neural NLI model. Deliberately — see slide 7.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scripts, one document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identity documents print the holder's name in English AND a regional script on the same card. The cross-script comparison is therefore in-document, not across two records.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55064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         Script          Normative          Why it is in the set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1965960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965960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463040" y="1965960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Latin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96596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297680" y="1965960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— the zone the others are compared against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13232" y="2624328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1463040" y="2624328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Devanagari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3108960" y="2624328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624328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authority fixes the answer; holders romanise their own name differently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3282696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3232" y="3282696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1463040" y="3282696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Tamil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108960" y="3282696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4297680" y="3282696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does not mark voicing at all: க is K or G, ப is P or B, equally correct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13232" y="3941064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bn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3941064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Bengali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108960" y="3941064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3941064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Inherent vowel nearer /o/; ya-phala shares a letter with /dʒ/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4599432"/>
            <a:ext cx="11064240" cy="658368"/>
          </a:xfrm>
          <a:prstGeom prst="rect">
            <a:avLst/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13232" y="4599432"/>
            <a:ext cx="731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ur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1463040" y="459943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Perso-Arabic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3108960" y="4599432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4297680" y="4599432"/>
            <a:ext cx="7223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vowels unwritten: script gives SDYQY, lexicon gives SIDDIQUI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5321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of five have no normative romanisation — the regime where a lookup table cannot win even in principle.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Dakshina download (CC BY-SA 4.0) supplies real romanisation pairs for all four non-English languages.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definition everything turns 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NEUTRAL is a property of the DOCUMENT, not of the model. If it meant "the model isn't sure", the three-way task would collapse into binary classification plus a confidence threshold — a solved problem, and not a contribution.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240280"/>
            <a:ext cx="384048" cy="38404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ENTAILMENT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evidence, correctly read across scripts and formats, supports the claim.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zone கண்ணன்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Claim: "surname is GANNAN"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Tamil க is K or G. Same name.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79392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07992" y="2240280"/>
            <a:ext cx="384048" cy="384048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0799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10912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CONTRADICTION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4507992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 refutes it — directly, or by joint impossibility across fields.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07992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1995 · Expiry 2035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Template: 2020 series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Each field valid. Jointly impossible.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8010144" y="2011680"/>
            <a:ext cx="3520440" cy="3063240"/>
          </a:xfrm>
          <a:prstGeom prst="roundRect">
            <a:avLst>
              <a:gd name="adj" fmla="val 1791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38744" y="2240280"/>
            <a:ext cx="384048" cy="384048"/>
          </a:xfrm>
          <a:prstGeom prst="ellipse">
            <a:avLst/>
          </a:prstGeom>
          <a:solidFill>
            <a:srgbClr val="D99A3C"/>
          </a:solidFill>
          <a:ln w="12700">
            <a:solidFill>
              <a:srgbClr val="D99A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23874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8741664" y="225856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9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NEUTRAL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8238744" y="2788920"/>
            <a:ext cx="3063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premise LACKS the evidence to decide. Route to a human.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238744" y="374904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Surname unreadable, conf. 0.05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other zone carries it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Not contradicted. Undecidable.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5257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boundary everyone gets wrong:  contradiction requires positive evidence AGAINST. Absence of evidence is never contradiction.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Enforced in code: a test fails the build if any NEUTRAL instance carries a legible observation of the claimed field.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the strongest baseline against our own idea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training any model, we built what a reviewer would demand: a deterministic rule engine, given every advantage.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246120"/>
          </a:xfrm>
          <a:prstGeom prst="roundRect">
            <a:avLst>
              <a:gd name="adj" fmla="val 1690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rule engine gets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51460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ICAO Doc 9303 transliteration tables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Per-script romanisation variant sets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 check-digit verification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Date-format normalisation across zones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Cross-field temporal consistency rules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tuned fuzzy-match threshold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abstention band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874520"/>
            <a:ext cx="5440680" cy="3246120"/>
          </a:xfrm>
          <a:prstGeom prst="roundRect">
            <a:avLst>
              <a:gd name="adj" fmla="val 1690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92240" y="21031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comes first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560320"/>
            <a:ext cx="48463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reviewer of this proposal will ask whether the neural approach does anything a rule engine could not.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rule engine wins, the contribution collapses — and it is far better to find that out in week two from 300 lines of code than in month five from a training run.</a:t>
            </a: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endParaRPr lang="en-US" sz="12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baseline is built to WIN, and is never weakened to flatter the method.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benchmark was then generated at four OCR-noise levels and both baselines run on every one.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result that reframes the project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7665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589520" y="137160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0" y="15361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0.980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7772400" y="224028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deterministic rule engine, on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noise-free input. No model involved.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315468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means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589520" y="3630168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818120" y="3566160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headroom on clean input.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589520" y="4288536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18120" y="4224528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Contrast consistency 0.952 — not gaming surface similarity.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589520" y="4946904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818120" y="4882896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Collapses under corruption: 0.980 → 0.649 [0.602, 0.694], review load 29% → 56%.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7589520" y="5605272"/>
            <a:ext cx="64008" cy="64008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818120" y="5541264"/>
            <a:ext cx="3794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difference significant under a paired bootstrap, 1000 resamples.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63550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languages × 120 identities, seed 20260906. Intervals: percentile bootstrap, 1000 resamples over CONTRAST GROUPS — resampling instances would treat correlated observations as independent and give intervals ~7% too narrow. Reproduce: scripts/run_noise_ablation.ps1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777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REVISED CLAIM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2801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this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627632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strike="sngStrike" dirty="0">
                <a:solidFill>
                  <a:srgbClr val="8A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"Three-way NLI beats exact string matching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500" i="1" strike="sngStrike" dirty="0">
                <a:solidFill>
                  <a:srgbClr val="8A9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identity verification."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48716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rule engine already does that. 0.980.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035040" y="1207008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2C3E63"/>
          </a:solidFill>
          <a:ln w="19050">
            <a:solidFill>
              <a:srgbClr val="E087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371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309360" y="169164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 OCR corruption, a learned entailment model recovers decisions a transliteration-aware rule engine must abstain on — reducing human review load at equal or better error rate.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822960" y="354787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14300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Falsifiable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38313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Stands or falls on the risk–coverage curve, with the rule engine's CI as the bar to clear.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080760" y="354787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0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baseline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83133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thing to beat is already built, already published in the repo, and hard.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22960" y="478231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143000" y="4754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Untouched by prior work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143000" y="506577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prediction under input corruption is not what the ID-verification literature does.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0760" y="4782312"/>
            <a:ext cx="182880" cy="182880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00800" y="47548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Operationally meaningful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5065776"/>
            <a:ext cx="4663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load is what a KYC team actually pays for.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RIGOUR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Literature re-verified against primary sources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references checked against the published record. Four needed substantive correction — two of them errors a reviewer would have found first.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1064240" cy="2331720"/>
          </a:xfrm>
          <a:prstGeom prst="roundRect">
            <a:avLst>
              <a:gd name="adj" fmla="val 2353"/>
            </a:avLst>
          </a:prstGeom>
          <a:solidFill>
            <a:srgbClr val="FBEEF0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938528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Corrected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317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FakeIDet2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337560" y="233172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3317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 2026 → 2025, and four wrong EER figures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52344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&amp; Kliegr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337560" y="2752344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434840" y="2752344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as a 2024 preprint — it is an IPM 2025 journal paper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17296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Marchesin et al.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337560" y="3172968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3172968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Cited as a survey — it is a special-issue EDITORIAL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" y="3593592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González &amp; Tapia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337560" y="3593592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4434840" y="3593592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architecture: serial 2-stage MobileNetV2, not modality-decoupled CNN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425196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F4EFE6"/>
          </a:solidFill>
          <a:ln w="12700">
            <a:solidFill>
              <a:srgbClr val="F4EFE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296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Verified as cited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" y="47091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SGER (ACL 2026 Industry Track) · CDCL-NLI (EMNLP 2025) · Entailed Between the Lines (ACL 2025) · MultiOCR-QA (CIKM '25) · Syauqi &amp; Wibawa (NLP Journal 2025)</a:t>
            </a: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endParaRPr lang="en-US" sz="110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outstanding: Toprak &amp; Turan's figures remain CANNOT VERIFY.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72200" y="4251960"/>
            <a:ext cx="5440680" cy="1737360"/>
          </a:xfrm>
          <a:prstGeom prst="roundRect">
            <a:avLst>
              <a:gd name="adj" fmla="val 3158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4652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SGER is now the closest prior work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709160"/>
            <a:ext cx="4937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 KYC name matching, deployed at 250M-user scale. Same domain as our five-language set. Its stated limits — binary labels, no insufficient-evidence class, names only — are exactly what this project extends.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91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Roadmap and the single point of failure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9844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path runs through one task. Everything downstream is conditional on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865376"/>
            <a:ext cx="292608" cy="292608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66928" y="18653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M0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Schema, generator, baselines, evaluation harness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82880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2267712"/>
            <a:ext cx="292608" cy="292608"/>
          </a:xfrm>
          <a:prstGeom prst="ellipse">
            <a:avLst/>
          </a:prstGeom>
          <a:solidFill>
            <a:srgbClr val="B23A48"/>
          </a:solidFill>
          <a:ln w="12700">
            <a:solidFill>
              <a:srgbClr val="B23A4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66928" y="22677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M1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1024128" y="223113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OCR noise model against a real engine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31136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66928" y="2670048"/>
            <a:ext cx="292608" cy="292608"/>
          </a:xfrm>
          <a:prstGeom prst="ellipse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26700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M2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24128" y="26334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name data — Dakshina, all four languages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126480" y="2633472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3072384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307238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M3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1024128" y="303580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cross-encoder (Colab / Kaggle GPU)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66928" y="3474720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34747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1024128" y="34381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Selective-prediction analysis, risk–coverage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66928" y="3877056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" y="3877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M5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1024128" y="3840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Human-labelled validation subset, agreement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6928" y="4279392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66928" y="42793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M6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1024128" y="424281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Ablations and error analysis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566928" y="4681728"/>
            <a:ext cx="292608" cy="292608"/>
          </a:xfrm>
          <a:prstGeom prst="ellipse">
            <a:avLst/>
          </a:prstGeom>
          <a:solidFill>
            <a:srgbClr val="D8DCE3"/>
          </a:solidFill>
          <a:ln w="12700">
            <a:solidFill>
              <a:srgbClr val="D8DCE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" y="46817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M7</a:t>
            </a:r>
            <a:endParaRPr lang="en-US" sz="950" dirty="0"/>
          </a:p>
        </p:txBody>
      </p:sp>
      <p:sp>
        <p:nvSpPr>
          <p:cNvPr id="31" name="Text 29"/>
          <p:cNvSpPr txBox="1"/>
          <p:nvPr/>
        </p:nvSpPr>
        <p:spPr>
          <a:xfrm>
            <a:off x="1024128" y="464515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Write-up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635240" y="1828800"/>
            <a:ext cx="3977640" cy="3200400"/>
          </a:xfrm>
          <a:prstGeom prst="roundRect">
            <a:avLst>
              <a:gd name="adj" fmla="val 1714"/>
            </a:avLst>
          </a:prstGeom>
          <a:solidFill>
            <a:srgbClr val="16233D"/>
          </a:solidFill>
          <a:ln w="12700">
            <a:solidFill>
              <a:srgbClr val="16233D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909560" y="2029968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87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M1 is the risk</a:t>
            </a:r>
            <a:endParaRPr lang="en-US" sz="1600" dirty="0"/>
          </a:p>
        </p:txBody>
      </p:sp>
      <p:sp>
        <p:nvSpPr>
          <p:cNvPr id="34" name="Text 32"/>
          <p:cNvSpPr txBox="1"/>
          <p:nvPr/>
        </p:nvSpPr>
        <p:spPr>
          <a:xfrm>
            <a:off x="7909560" y="2450592"/>
            <a:ext cx="3474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OCR noise model is hand-built from documented per-script failure modes — matra loss, Perso-Arabic dot loss, homoglyphs. It has NOT been calibrated against a real OCR engine.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direction of the finding is robust: it follows from the rule engine's brittleness to unparsable strings.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magnitude is not yet trustworthy. Calibration against Tesseract on MIDV-2020 comes before any model is trained.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52578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 if M1 proves expensive: the calibration itself — a per-script OCR error characterisation for Indian identity documents — is a publishable contribution on its own.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3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runs. Now.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16002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 required. Clean checkout to results in under a minute.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22960" y="2148840"/>
            <a:ext cx="10515600" cy="1600200"/>
          </a:xfrm>
          <a:prstGeom prst="roundRect">
            <a:avLst>
              <a:gd name="adj" fmla="val 3429"/>
            </a:avLst>
          </a:prstGeom>
          <a:solidFill>
            <a:srgbClr val="0D1729"/>
          </a:solidFill>
          <a:ln w="12700">
            <a:solidFill>
              <a:srgbClr val="2C3E6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2377440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languages          # the five scripts and why each is in the set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generate           # build the 7,000-instance benchmark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compare            # score every baseline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9FE8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kyc-nli inspect --language ta   # read real instances before trusting a number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822960" y="4096512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0233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can defend today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4389120" y="4023360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system, a 7,000-instance benchmark across five Indian scripts, a strong baseline, and a reproducible protocol.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22960" y="4754880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97280" y="468172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learned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4681728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original framing does not survive contact with a good baseline. The revised one is sharper and falsifiable.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22960" y="5413248"/>
            <a:ext cx="73152" cy="73152"/>
          </a:xfrm>
          <a:prstGeom prst="rect">
            <a:avLst/>
          </a:prstGeom>
          <a:solidFill>
            <a:srgbClr val="E0873A"/>
          </a:solidFill>
          <a:ln w="12700">
            <a:solidFill>
              <a:srgbClr val="E0873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97280" y="534009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087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next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389120" y="5340096"/>
            <a:ext cx="6949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200" dirty="0">
                <a:solidFill>
                  <a:srgbClr val="F4EF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the noise model, swap in Dakshina, then train.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241280" y="987552"/>
            <a:ext cx="351130" cy="351130"/>
          </a:xfrm>
          <a:prstGeom prst="ellipse">
            <a:avLst/>
          </a:prstGeom>
          <a:solidFill>
            <a:srgbClr val="2E7D5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241280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10680192" y="987552"/>
            <a:ext cx="351130" cy="351130"/>
          </a:xfrm>
          <a:prstGeom prst="ellipse">
            <a:avLst/>
          </a:prstGeom>
          <a:solidFill>
            <a:srgbClr val="B23A4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680192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1119104" y="987552"/>
            <a:ext cx="351130" cy="351130"/>
          </a:xfrm>
          <a:prstGeom prst="ellipse">
            <a:avLst/>
          </a:prstGeom>
          <a:solidFill>
            <a:srgbClr val="D99A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119104" y="987552"/>
            <a:ext cx="351130" cy="351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KYC-NLI Mid-Review</dc:title>
  <dc:subject>PptxGenJS Presentation</dc:subject>
  <dc:creator>Stuti Arya</dc:creator>
  <cp:lastModifiedBy>Stuti Arya</cp:lastModifiedBy>
  <cp:revision>1</cp:revision>
  <dcterms:created xsi:type="dcterms:W3CDTF">2026-09-06T07:36:57Z</dcterms:created>
  <dcterms:modified xsi:type="dcterms:W3CDTF">2026-09-06T07:36:57Z</dcterms:modified>
</cp:coreProperties>
</file>