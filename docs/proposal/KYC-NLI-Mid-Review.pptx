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D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6233D"/>
                </a:solidFill>
                <a:latin typeface="Calibri"/>
              </a:rPr>
              <a:t>Macro-F1 vs OCR noise (rates MEASURED from Tesseract)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Rule engine</c:v>
                </c:pt>
              </c:strCache>
            </c:strRef>
          </c:tx>
          <c:spPr>
            <a:solidFill>
              <a:srgbClr val="16233D"/>
            </a:solidFill>
            <a:ln w="38100" cap="flat">
              <a:solidFill>
                <a:srgbClr val="16233D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28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6233D"/>
              </a:solidFill>
              <a:ln w="9525" cap="flat">
                <a:solidFill>
                  <a:srgbClr val="1623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clean</c:v>
                  </c:pt>
                  <c:pt idx="1">
                    <c:v>light</c:v>
                  </c:pt>
                  <c:pt idx="2">
                    <c:v>moderate</c:v>
                  </c:pt>
                  <c:pt idx="3">
                    <c:v>heavy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0.981</c:v>
                </c:pt>
                <c:pt idx="1">
                  <c:v>0.92</c:v>
                </c:pt>
                <c:pt idx="2">
                  <c:v>0.597</c:v>
                </c:pt>
                <c:pt idx="3">
                  <c:v>0.361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Exact match (incumbent)</c:v>
                </c:pt>
              </c:strCache>
            </c:strRef>
          </c:tx>
          <c:spPr>
            <a:solidFill>
              <a:srgbClr val="B23A48"/>
            </a:solidFill>
            <a:ln w="38100" cap="flat">
              <a:solidFill>
                <a:srgbClr val="B23A48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28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23A48"/>
              </a:solidFill>
              <a:ln w="9525" cap="flat">
                <a:solidFill>
                  <a:srgbClr val="B23A4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clean</c:v>
                  </c:pt>
                  <c:pt idx="1">
                    <c:v>light</c:v>
                  </c:pt>
                  <c:pt idx="2">
                    <c:v>moderate</c:v>
                  </c:pt>
                  <c:pt idx="3">
                    <c:v>heavy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0.368</c:v>
                </c:pt>
                <c:pt idx="1">
                  <c:v>0.354</c:v>
                </c:pt>
                <c:pt idx="2">
                  <c:v>0.252</c:v>
                </c:pt>
                <c:pt idx="3">
                  <c:v>0.219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6B728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Mid-review. Headline: a working system, a real empirical result with confidence intervals, and a reframed central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pivot as progress, not retreat. We tested our own idea and found where it holds.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'something that works' slide. Everything listed runs on a laptop CPU in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Tamil is the strongest case: the script genuinely underdetermines the romanisation.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the reviewer question 'is Neutral just an abstention threshold?'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methodological maturity: we tried to kill our own idea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number. 0.980 clean. That kills the original framing and points at the real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pivot slide. Two contributions from Review 1 are retired; the surviving claim is sharper and testable.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Catching four of your own citation errors before a reviewer does is a credibility gain, not a loss. Say so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Naming your own single point of failure before a reviewer does is the strongest position available.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demo. Offer to run it live — kyc-nli compare takes about ten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KYC-NLI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7432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200" dirty="0">
                <a:solidFill>
                  <a:srgbClr val="F4EF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Document-Level Natural Language Inference</a:t>
            </a: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200" dirty="0">
                <a:solidFill>
                  <a:srgbClr val="F4EF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Identity Verification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22960" y="3977640"/>
            <a:ext cx="1005840" cy="32004"/>
          </a:xfrm>
          <a:prstGeom prst="rect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Mid-Review  ·  Stuti Arya  ·  September 2026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Indian scripts  ·  Working system  ·  First empirical results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829800" y="1965960"/>
            <a:ext cx="416966" cy="416966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29800" y="1965960"/>
            <a:ext cx="416966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10351008" y="1965960"/>
            <a:ext cx="416966" cy="416966"/>
          </a:xfrm>
          <a:prstGeom prst="ellipse">
            <a:avLst/>
          </a:prstGeom>
          <a:solidFill>
            <a:srgbClr val="B23A4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351008" y="1965960"/>
            <a:ext cx="416966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10872216" y="1965960"/>
            <a:ext cx="416966" cy="416966"/>
          </a:xfrm>
          <a:prstGeom prst="ellipse">
            <a:avLst/>
          </a:prstGeom>
          <a:solidFill>
            <a:srgbClr val="D99A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872216" y="1965960"/>
            <a:ext cx="416966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25603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Entailment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 since Review 1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delivered a proposal. This review delivers a running system and a result that changes what we claim.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2880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— Review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828800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— Mid-Review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304288"/>
            <a:ext cx="11064240" cy="475488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30428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and objectives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2304288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task schema, in code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77977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12-paper literature review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2779776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re-verified against source; 4 corrected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255264"/>
            <a:ext cx="11064240" cy="475488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255264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6 contributions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255264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tested against a strong baseline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7307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methodology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3730752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protocol, frozen and documented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206240"/>
            <a:ext cx="11064240" cy="475488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2062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4206240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7,000-instance benchmark, 5 scripts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68172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4681728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system, 91 passing tests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5157216"/>
            <a:ext cx="11064240" cy="475488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515721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results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5157216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measured noise levels × 2 baselines × 5 languages, with CIs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built and running today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7,000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585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instances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5 scripts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4173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58191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2585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clean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4173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63640" y="158191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2585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languages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distinct scripts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15400" y="141732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52560" y="158191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2258568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identity records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used, by construction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76072" y="3118104"/>
            <a:ext cx="146304" cy="146304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3063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schema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3063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Premise = multi-zone field observations. Hypothesis = one claim. Label = E / C / 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" y="3630168"/>
            <a:ext cx="146304" cy="146304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" y="35753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Transliteration engines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3566160" y="35753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Devanagari, Tamil, Bengali, Perso-Arabic. Each returns a variant SET, not one string.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76072" y="4142232"/>
            <a:ext cx="146304" cy="146304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0873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noise model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40873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MEASURED from Tesseract across 5 scripts and 4 capture conditions (M1).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76072" y="4654296"/>
            <a:ext cx="146304" cy="146304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8680" y="45994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generator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3566160" y="45994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Minimal-pair contrast groups. Reproducible from a config plus a seed.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6072" y="5166360"/>
            <a:ext cx="146304" cy="146304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5111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baseline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3566160" y="51114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ICAO tables, MRZ check digits, cross-field temporal rules, tuned fuzzy match.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76072" y="5678424"/>
            <a:ext cx="146304" cy="146304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68680" y="5623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harness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3566160" y="5623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 with bootstrap CIs, paired significance testing, per-language, per-phenomenon.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neural model's pipeline is built and its training is running; there is deliberately no model number yet — see slide 7 for why that ordering was the right one.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scripts, one document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identity documents print the holder's name in English AND a regional script on the same card. The cross-script comparison is therefore in-document, not across two records.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55064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         Script          Normative          Why it is in the set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658368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965960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96596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108960" y="196596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297680" y="1965960"/>
            <a:ext cx="7223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— the zone the others are compared against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2624328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624328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Devanagari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2624328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624328"/>
            <a:ext cx="7223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authority fixes the answer; holders romanise their own name differently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282696"/>
            <a:ext cx="11064240" cy="658368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282696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282696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108960" y="3282696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297680" y="3282696"/>
            <a:ext cx="7223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does not mark voicing at all: க is K or G, ப is P or B, equally correct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3941064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bn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941064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Bengali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108960" y="3941064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297680" y="3941064"/>
            <a:ext cx="7223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Inherent vowel nearer /o/; ya-phala shares a letter with /dʒ/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599432"/>
            <a:ext cx="11064240" cy="658368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4599432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ur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4599432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Perso-Arabic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3108960" y="4599432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297680" y="4599432"/>
            <a:ext cx="7223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vowels unwritten: script gives SDYQY, lexicon gives SIDDIQUI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532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of five have no normative romanisation — the regime where a lookup table cannot win even in principle.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Dakshina download (CC BY-SA 4.0) supplies real romanisation pairs for all four non-English languages.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definition everything turns 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is a property of the DOCUMENT, not of the model. If it meant "the model isn't sure", the three-way task would collapse into binary classification plus a confidence threshold — a solved problem, and not a contribution.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3063240"/>
          </a:xfrm>
          <a:prstGeom prst="roundRect">
            <a:avLst>
              <a:gd name="adj" fmla="val 1791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240280"/>
            <a:ext cx="384048" cy="384048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2585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ENTAILMENT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78892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evidence, correctly read across scripts and formats, supports the claim.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749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zone கண்ணன்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Claim: "surname is GANNAN"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Tamil க is K or G. Same name.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79392" y="2011680"/>
            <a:ext cx="3520440" cy="3063240"/>
          </a:xfrm>
          <a:prstGeom prst="roundRect">
            <a:avLst>
              <a:gd name="adj" fmla="val 1791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07992" y="2240280"/>
            <a:ext cx="384048" cy="384048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07992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010912" y="22585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CONTRADICTION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07992" y="278892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refutes it — directly, or by joint impossibility across fields.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07992" y="3749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1995 · Expiry 2035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Template: 2020 series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Each field valid. Jointly impossible.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10144" y="2011680"/>
            <a:ext cx="3520440" cy="3063240"/>
          </a:xfrm>
          <a:prstGeom prst="roundRect">
            <a:avLst>
              <a:gd name="adj" fmla="val 1791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38744" y="2240280"/>
            <a:ext cx="384048" cy="384048"/>
          </a:xfrm>
          <a:prstGeom prst="ellipse">
            <a:avLst/>
          </a:prstGeom>
          <a:solidFill>
            <a:srgbClr val="D99A3C"/>
          </a:solidFill>
          <a:ln w="12700">
            <a:solidFill>
              <a:srgbClr val="D99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38744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741664" y="22585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9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NEUTRAL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38744" y="278892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premise LACKS the evidence to decide. Route to a human.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238744" y="3749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Surname unreadable, conf. 0.05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other zone carries it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Not contradicted. Undecidable.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257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boundary everyone gets wrong:  contradiction requires positive evidence AGAINST. Absence of evidence is never contradiction.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in code: a test fails the build if any NEUTRAL instance carries a legible observation of the claimed field.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built the strongest baseline against our own idea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training any model, we built what a reviewer would demand: a deterministic rule engine, given every advantage.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440680" cy="3246120"/>
          </a:xfrm>
          <a:prstGeom prst="roundRect">
            <a:avLst>
              <a:gd name="adj" fmla="val 1690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1031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 engine gets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146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ICAO Doc 9303 transliteration tables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Per-script romanisation variant sets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 check-digit verification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Date-format normalisation across zones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Cross-field temporal consistency rules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tuned fuzzy-match threshold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abstention band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874520"/>
            <a:ext cx="5440680" cy="3246120"/>
          </a:xfrm>
          <a:prstGeom prst="roundRect">
            <a:avLst>
              <a:gd name="adj" fmla="val 1690"/>
            </a:avLst>
          </a:prstGeom>
          <a:solidFill>
            <a:srgbClr val="16233D"/>
          </a:solidFill>
          <a:ln w="12700">
            <a:solidFill>
              <a:srgbClr val="1623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21031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8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comes first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56032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reviewer of this proposal will ask whether the neural approach does anything a rule engine could not.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rule engine wins, the contribution collapses — and it is far better to find that out in week two from 300 lines of code than in month five from a training run.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baseline is built to WIN, and is never weakened to flatter the method.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 was then generated at four OCR-noise levels and both baselines run on every one.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result that reframes the project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67665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371600"/>
            <a:ext cx="4023360" cy="1600200"/>
          </a:xfrm>
          <a:prstGeom prst="roundRect">
            <a:avLst>
              <a:gd name="adj" fmla="val 3429"/>
            </a:avLst>
          </a:prstGeom>
          <a:solidFill>
            <a:srgbClr val="16233D"/>
          </a:solidFill>
          <a:ln w="12700">
            <a:solidFill>
              <a:srgbClr val="16233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53619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08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0.981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2402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 rule engine, on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noise-free input. No model involved.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315468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means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589520" y="3630168"/>
            <a:ext cx="64008" cy="64008"/>
          </a:xfrm>
          <a:prstGeom prst="rect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18120" y="356616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headroom on clean input.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589520" y="4288536"/>
            <a:ext cx="64008" cy="64008"/>
          </a:xfrm>
          <a:prstGeom prst="rect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18120" y="4224528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consistency 0.956 — not gaming surface similarity.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589520" y="4946904"/>
            <a:ext cx="64008" cy="64008"/>
          </a:xfrm>
          <a:prstGeom prst="rect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18120" y="4882896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Collapses under real corruption: 0.981 → 0.361 [0.315, 0.404].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589520" y="5605272"/>
            <a:ext cx="64008" cy="64008"/>
          </a:xfrm>
          <a:prstGeom prst="rect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818120" y="5541264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load 29% → 85%. It abstains on 79% of decidable cases — the exact gap a learned model is for.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rates MEASURED from Tesseract on shaped renders (M1) — a lower bound on real documents. The earlier hand-built model had deletion 10-17x too low and put moderate at 0.831. 5 languages × 120 identities, seed 20260906.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REVISED CLAIM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this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27632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i="1" strike="sngStrike" dirty="0">
                <a:solidFill>
                  <a:srgbClr val="8A9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"Three-way NLI beats exact string matching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i="1" strike="sngStrike" dirty="0">
                <a:solidFill>
                  <a:srgbClr val="8A9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identity verification."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871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engine already does that. 0.980.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035040" y="1207008"/>
            <a:ext cx="5303520" cy="1874520"/>
          </a:xfrm>
          <a:prstGeom prst="roundRect">
            <a:avLst>
              <a:gd name="adj" fmla="val 2927"/>
            </a:avLst>
          </a:prstGeom>
          <a:solidFill>
            <a:srgbClr val="2C3E63"/>
          </a:solidFill>
          <a:ln w="19050">
            <a:solidFill>
              <a:srgbClr val="E087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09360" y="1371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69164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OCR corruption, a learned entailment model recovers decisions a transliteration-aware rule engine must abstain on — reducing human review load at equal or better error rate.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22960" y="3547872"/>
            <a:ext cx="182880" cy="182880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43000" y="35204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Falsifiable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831336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Stands or falls on the risk–coverage curve, with the rule engine's CI as the bar to clear.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80760" y="3547872"/>
            <a:ext cx="182880" cy="182880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5204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baseline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831336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 to beat is already built, already published in the repo, and hard.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2960" y="4782312"/>
            <a:ext cx="182880" cy="182880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43000" y="47548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Untouched by prior work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5065776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prediction under input corruption is not what the ID-verification literature does.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080760" y="4782312"/>
            <a:ext cx="182880" cy="182880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7548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 meaningful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5065776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load is what a KYC team actually pays for.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RIGOUR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re-verified against primary sources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references checked against the published record. Four needed substantive correction — two of them errors a reviewer would have found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64240" cy="2331720"/>
          </a:xfrm>
          <a:prstGeom prst="roundRect">
            <a:avLst>
              <a:gd name="adj" fmla="val 2353"/>
            </a:avLst>
          </a:prstGeom>
          <a:solidFill>
            <a:srgbClr val="FBEEF0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385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Corrected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3317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FakeIDet2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337560" y="23317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233172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2026 → 2025, and four wrong EER figures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75234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&amp; Kliegr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337560" y="275234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2752344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as a 2024 preprint — it is an IPM 2025 journal paper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1729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Marchesin et al.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337560" y="317296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434840" y="3172968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as a survey — it is a special-issue EDITORIAL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359359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González &amp; Tapia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337560" y="359359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434840" y="3593592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architecture: serial 2-stage MobileNetV2, not modality-decoupled CNN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251960"/>
            <a:ext cx="5440680" cy="1737360"/>
          </a:xfrm>
          <a:prstGeom prst="roundRect">
            <a:avLst>
              <a:gd name="adj" fmla="val 3158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407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as cited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70916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SGER (ACL 2026 Industry Track) · CDCL-NLI (EMNLP 2025) · Entailed Between the Lines (ACL 2025) · MultiOCR-QA (CIKM '25) · Syauqi &amp; Wibawa (NLP Journal 2025)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outstanding: Toprak &amp; Turan's figures remain CANNOT VERIFY.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72200" y="4251960"/>
            <a:ext cx="5440680" cy="1737360"/>
          </a:xfrm>
          <a:prstGeom prst="roundRect">
            <a:avLst>
              <a:gd name="adj" fmla="val 3158"/>
            </a:avLst>
          </a:prstGeom>
          <a:solidFill>
            <a:srgbClr val="16233D"/>
          </a:solidFill>
          <a:ln w="12700">
            <a:solidFill>
              <a:srgbClr val="1623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46520" y="4407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8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SGER is now the closest prior work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446520" y="470916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KYC name matching, deployed at 250M-user scale. Same domain as our five-language set. Its stated limits — binary labels, no insufficient-evidence class, names only — are exactly what this project extends.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and the single point of failure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path runs through one task. Everything downstream is conditional on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865376"/>
            <a:ext cx="292608" cy="292608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8653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Schema, generator, baselines, evaluation harness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828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292608" cy="292608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22677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223113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noise model calibrated against Tesseract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23113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2670048"/>
            <a:ext cx="292608" cy="292608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" y="2670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63347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Dakshina — engines measured on human romanisations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263347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3072384"/>
            <a:ext cx="292608" cy="292608"/>
          </a:xfrm>
          <a:prstGeom prst="ellipse">
            <a:avLst/>
          </a:prstGeom>
          <a:solidFill>
            <a:srgbClr val="D8DCE3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072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30358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cross-encoder (Colab / Kaggle GPU)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3474720"/>
            <a:ext cx="292608" cy="292608"/>
          </a:xfrm>
          <a:prstGeom prst="ellipse">
            <a:avLst/>
          </a:prstGeom>
          <a:solidFill>
            <a:srgbClr val="D8DCE3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474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343814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Selective-prediction analysis, risk–coverage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6928" y="3877056"/>
            <a:ext cx="292608" cy="292608"/>
          </a:xfrm>
          <a:prstGeom prst="ellipse">
            <a:avLst/>
          </a:prstGeom>
          <a:solidFill>
            <a:srgbClr val="D8DCE3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877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024128" y="3840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Human-labelled validation subset, agreement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66928" y="4279392"/>
            <a:ext cx="292608" cy="292608"/>
          </a:xfrm>
          <a:prstGeom prst="ellipse">
            <a:avLst/>
          </a:prstGeom>
          <a:solidFill>
            <a:srgbClr val="D8DCE3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66928" y="4279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424281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Ablations and error analysis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66928" y="4681728"/>
            <a:ext cx="292608" cy="292608"/>
          </a:xfrm>
          <a:prstGeom prst="ellipse">
            <a:avLst/>
          </a:prstGeom>
          <a:solidFill>
            <a:srgbClr val="D8DCE3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6928" y="4681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46451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Write-up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635240" y="1828800"/>
            <a:ext cx="3977640" cy="3200400"/>
          </a:xfrm>
          <a:prstGeom prst="roundRect">
            <a:avLst>
              <a:gd name="adj" fmla="val 1714"/>
            </a:avLst>
          </a:prstGeom>
          <a:solidFill>
            <a:srgbClr val="16233D"/>
          </a:solidFill>
          <a:ln w="12700">
            <a:solidFill>
              <a:srgbClr val="1623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909560" y="20299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8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M1 found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909560" y="2450592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OCR noise model is hand-built from documented per-script failure modes — matra loss, Perso-Arabic dot loss, homoglyphs. It has NOT been calibrated against a real OCR engine.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direction of the finding is robust: it follows from the rule engine's brittleness to unparsable strings.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magnitude is not yet trustworthy. Calibration against Tesseract on MIDV-2020 comes before any model is trained.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2578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risk: rendered text has no paper grain, glare or perspective, so the measured rates are a stated LOWER BOUND on real documents. M1b adds a second engine and a real-document correction factor.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runs. Now.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00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GPU required. Clean checkout to results in under a minute.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10515600" cy="1600200"/>
          </a:xfrm>
          <a:prstGeom prst="roundRect">
            <a:avLst>
              <a:gd name="adj" fmla="val 3429"/>
            </a:avLst>
          </a:prstGeom>
          <a:solidFill>
            <a:srgbClr val="0D1729"/>
          </a:solidFill>
          <a:ln w="12700">
            <a:solidFill>
              <a:srgbClr val="2C3E6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377440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9FE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kyc-nli languages          # the five scripts and why each is in the set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9FE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kyc-nli generate           # build the 7,000-instance benchmark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9FE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kyc-nli compare            # score every baseline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9FE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kyc-nli inspect --language ta   # read real instances before trusting a number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22960" y="4096512"/>
            <a:ext cx="73152" cy="73152"/>
          </a:xfrm>
          <a:prstGeom prst="rect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023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can defend today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402336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system, a 7,000-instance benchmark across five Indian scripts, a strong baseline, and a reproducible protocol.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4754880"/>
            <a:ext cx="73152" cy="73152"/>
          </a:xfrm>
          <a:prstGeom prst="rect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46817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468172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framing does not survive contact with a good baseline. The revised one is sharper and falsifiable.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5413248"/>
            <a:ext cx="73152" cy="73152"/>
          </a:xfrm>
          <a:prstGeom prst="rect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53400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next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5340096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the noise model, swap in Dakshina, then train.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241280" y="987552"/>
            <a:ext cx="351130" cy="351130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241280" y="987552"/>
            <a:ext cx="351130" cy="351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0680192" y="987552"/>
            <a:ext cx="351130" cy="351130"/>
          </a:xfrm>
          <a:prstGeom prst="ellipse">
            <a:avLst/>
          </a:prstGeom>
          <a:solidFill>
            <a:srgbClr val="B23A4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680192" y="987552"/>
            <a:ext cx="351130" cy="351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1119104" y="987552"/>
            <a:ext cx="351130" cy="351130"/>
          </a:xfrm>
          <a:prstGeom prst="ellipse">
            <a:avLst/>
          </a:prstGeom>
          <a:solidFill>
            <a:srgbClr val="D99A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1119104" y="987552"/>
            <a:ext cx="351130" cy="351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KYC-NLI Mid-Review</dc:title>
  <dc:subject>PptxGenJS Presentation</dc:subject>
  <dc:creator>Stuti Arya</dc:creator>
  <cp:lastModifiedBy>Stuti Arya</cp:lastModifiedBy>
  <cp:revision>1</cp:revision>
  <dcterms:created xsi:type="dcterms:W3CDTF">2026-09-10T00:20:59Z</dcterms:created>
  <dcterms:modified xsi:type="dcterms:W3CDTF">2026-09-10T00:20:59Z</dcterms:modified>
</cp:coreProperties>
</file>